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64592"/>
          </a:xfrm>
          <a:prstGeom prst="rect">
            <a:avLst/>
          </a:prstGeom>
          <a:solidFill>
            <a:srgbClr val="FFC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84167" y="502920"/>
            <a:ext cx="40233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im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487" y="713232"/>
            <a:ext cx="3474720" cy="7991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4884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D9D9"/>
                </a:solidFill>
                <a:latin typeface="Segoe UI"/>
              </a:rPr>
              <a:t>HƯỚNG DẪN SỬ DỤNG</a:t>
            </a:r>
          </a:p>
          <a:p>
            <a:r>
              <a:rPr sz="4000" b="1">
                <a:solidFill>
                  <a:srgbClr val="FFFFFF"/>
                </a:solidFill>
                <a:latin typeface="Segoe UI"/>
              </a:rPr>
              <a:t>Ứng dụng AI ImmiPath, Fill tài liệu</a:t>
            </a:r>
          </a:p>
          <a:p>
            <a:pPr>
              <a:spcBef>
                <a:spcPts val="1600"/>
              </a:spcBef>
            </a:pPr>
            <a:r>
              <a:rPr sz="2000" b="0">
                <a:solidFill>
                  <a:srgbClr val="FFE5E5"/>
                </a:solidFill>
                <a:latin typeface="Segoe UI"/>
              </a:rPr>
              <a:t>Quy trình các bước &amp; cách upload tài liệu hồ sơ định cư</a:t>
            </a:r>
          </a:p>
          <a:p>
            <a:pPr>
              <a:spcBef>
                <a:spcPts val="2000"/>
              </a:spcBef>
            </a:pPr>
            <a:r>
              <a:rPr sz="1800" b="1">
                <a:solidFill>
                  <a:srgbClr val="FFFFFF"/>
                </a:solidFill>
                <a:latin typeface="Segoe UI"/>
              </a:rPr>
              <a:t>Người trình bày: Trần Minh Triết</a:t>
            </a:r>
          </a:p>
          <a:p>
            <a:r>
              <a:rPr sz="1600" b="0">
                <a:solidFill>
                  <a:srgbClr val="FFE5E5"/>
                </a:solidFill>
                <a:latin typeface="Segoe UI"/>
              </a:rPr>
              <a:t>Ngày: 29/06/2026</a:t>
            </a:r>
          </a:p>
        </p:txBody>
      </p:sp>
      <p:pic>
        <p:nvPicPr>
          <p:cNvPr id="7" name="Picture 6" descr="logo-im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54496"/>
            <a:ext cx="1431235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63276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Trang 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Quy trình tổng quan — 7 bước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Segoe UI"/>
              </a:rPr>
              <a:t>Bảy bước từ khi tạo hồ sơ đến khi xuất form DS-260: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92224" y="2862072"/>
            <a:ext cx="238201" cy="219456"/>
          </a:xfrm>
          <a:prstGeom prst="rightArrow">
            <a:avLst/>
          </a:prstGeom>
          <a:solidFill>
            <a:srgbClr val="F0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3466033" y="2862072"/>
            <a:ext cx="238201" cy="219456"/>
          </a:xfrm>
          <a:prstGeom prst="rightArrow">
            <a:avLst/>
          </a:prstGeom>
          <a:solidFill>
            <a:srgbClr val="F0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5139842" y="2862072"/>
            <a:ext cx="238201" cy="219456"/>
          </a:xfrm>
          <a:prstGeom prst="rightArrow">
            <a:avLst/>
          </a:prstGeom>
          <a:solidFill>
            <a:srgbClr val="F0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6813651" y="2862072"/>
            <a:ext cx="238201" cy="219456"/>
          </a:xfrm>
          <a:prstGeom prst="rightArrow">
            <a:avLst/>
          </a:prstGeom>
          <a:solidFill>
            <a:srgbClr val="F0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487460" y="2862072"/>
            <a:ext cx="238201" cy="219456"/>
          </a:xfrm>
          <a:prstGeom prst="rightArrow">
            <a:avLst/>
          </a:prstGeom>
          <a:solidFill>
            <a:srgbClr val="F0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10161269" y="2862072"/>
            <a:ext cx="238202" cy="219456"/>
          </a:xfrm>
          <a:prstGeom prst="rightArrow">
            <a:avLst/>
          </a:prstGeom>
          <a:solidFill>
            <a:srgbClr val="F0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" y="2308860"/>
            <a:ext cx="1325880" cy="1325880"/>
          </a:xfrm>
          <a:prstGeom prst="ellipse">
            <a:avLst/>
          </a:prstGeom>
          <a:solidFill>
            <a:srgbClr val="B91C1C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516" y="3744468"/>
            <a:ext cx="167380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Segoe UI"/>
              </a:rPr>
              <a:t>Đăng nhập</a:t>
            </a:r>
          </a:p>
        </p:txBody>
      </p:sp>
      <p:sp>
        <p:nvSpPr>
          <p:cNvPr id="13" name="Oval 12"/>
          <p:cNvSpPr/>
          <p:nvPr/>
        </p:nvSpPr>
        <p:spPr>
          <a:xfrm>
            <a:off x="2085289" y="2308860"/>
            <a:ext cx="1325880" cy="1325880"/>
          </a:xfrm>
          <a:prstGeom prst="ellipse">
            <a:avLst/>
          </a:prstGeom>
          <a:solidFill>
            <a:srgbClr val="7F1D1D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1325" y="3744468"/>
            <a:ext cx="167380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Segoe UI"/>
              </a:rPr>
              <a:t>Tạo hồ sơ</a:t>
            </a:r>
          </a:p>
        </p:txBody>
      </p:sp>
      <p:sp>
        <p:nvSpPr>
          <p:cNvPr id="15" name="Oval 14"/>
          <p:cNvSpPr/>
          <p:nvPr/>
        </p:nvSpPr>
        <p:spPr>
          <a:xfrm>
            <a:off x="3759098" y="2308860"/>
            <a:ext cx="1325880" cy="1325880"/>
          </a:xfrm>
          <a:prstGeom prst="ellipse">
            <a:avLst/>
          </a:prstGeom>
          <a:solidFill>
            <a:srgbClr val="B91C1C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5134" y="3744468"/>
            <a:ext cx="167380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Segoe UI"/>
              </a:rPr>
              <a:t>Đặt tên &amp; Upload</a:t>
            </a:r>
          </a:p>
        </p:txBody>
      </p:sp>
      <p:sp>
        <p:nvSpPr>
          <p:cNvPr id="17" name="Oval 16"/>
          <p:cNvSpPr/>
          <p:nvPr/>
        </p:nvSpPr>
        <p:spPr>
          <a:xfrm>
            <a:off x="5432907" y="2308860"/>
            <a:ext cx="1325880" cy="1325880"/>
          </a:xfrm>
          <a:prstGeom prst="ellipse">
            <a:avLst/>
          </a:prstGeom>
          <a:solidFill>
            <a:srgbClr val="7F1D1D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8943" y="3744468"/>
            <a:ext cx="167380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Segoe UI"/>
              </a:rPr>
              <a:t>OCR xử lý tự động</a:t>
            </a:r>
          </a:p>
        </p:txBody>
      </p:sp>
      <p:sp>
        <p:nvSpPr>
          <p:cNvPr id="19" name="Oval 18"/>
          <p:cNvSpPr/>
          <p:nvPr/>
        </p:nvSpPr>
        <p:spPr>
          <a:xfrm>
            <a:off x="7106716" y="2308860"/>
            <a:ext cx="1325880" cy="1325880"/>
          </a:xfrm>
          <a:prstGeom prst="ellipse">
            <a:avLst/>
          </a:prstGeom>
          <a:solidFill>
            <a:srgbClr val="B91C1C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2752" y="3744468"/>
            <a:ext cx="167380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Segoe UI"/>
              </a:rPr>
              <a:t>Khai báo thành viên</a:t>
            </a:r>
          </a:p>
        </p:txBody>
      </p:sp>
      <p:sp>
        <p:nvSpPr>
          <p:cNvPr id="21" name="Oval 20"/>
          <p:cNvSpPr/>
          <p:nvPr/>
        </p:nvSpPr>
        <p:spPr>
          <a:xfrm>
            <a:off x="8780525" y="2308860"/>
            <a:ext cx="1325880" cy="1325880"/>
          </a:xfrm>
          <a:prstGeom prst="ellipse">
            <a:avLst/>
          </a:prstGeom>
          <a:solidFill>
            <a:srgbClr val="7F1D1D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6561" y="3744468"/>
            <a:ext cx="167380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Segoe UI"/>
              </a:rPr>
              <a:t>Review &amp; xung đột</a:t>
            </a:r>
          </a:p>
        </p:txBody>
      </p:sp>
      <p:sp>
        <p:nvSpPr>
          <p:cNvPr id="23" name="Oval 22"/>
          <p:cNvSpPr/>
          <p:nvPr/>
        </p:nvSpPr>
        <p:spPr>
          <a:xfrm>
            <a:off x="10454335" y="2308860"/>
            <a:ext cx="1325880" cy="1325880"/>
          </a:xfrm>
          <a:prstGeom prst="ellipse">
            <a:avLst/>
          </a:prstGeom>
          <a:solidFill>
            <a:srgbClr val="B91C1C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0371" y="3744468"/>
            <a:ext cx="167380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Segoe UI"/>
              </a:rPr>
              <a:t>Xuất DS-260</a:t>
            </a:r>
          </a:p>
        </p:txBody>
      </p:sp>
      <p:pic>
        <p:nvPicPr>
          <p:cNvPr id="25" name="Picture 24" descr="logo-im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54496"/>
            <a:ext cx="1431235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503920" y="63276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Trang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1800" b="1">
                <a:solidFill>
                  <a:srgbClr val="FFD9D9"/>
                </a:solidFill>
                <a:latin typeface="Segoe UI"/>
              </a:rPr>
              <a:t>BƯỚC 1   </a:t>
            </a:r>
            <a:r>
              <a:rPr sz="2600" b="1">
                <a:solidFill>
                  <a:srgbClr val="FFFFFF"/>
                </a:solidFill>
                <a:latin typeface="Segoe UI"/>
              </a:rPr>
              <a:t>Đăng nhập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Mở trình duyệt và truy cập địa chỉ ứng dụng do quản trị cung cấp.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Nhập Email và Mật khẩu được cấp, bấm "Đăng nhập".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Nhập Mã 2FA nếu tài khoản đã bật xác thực 2 lớp.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Đăng nhập xong sẽ vào trang Dashboard (Tổng quan).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      –  Quên mật khẩu? Liên hệ quản trị viên (IT) để cấp lại.</a:t>
            </a:r>
          </a:p>
        </p:txBody>
      </p:sp>
      <p:pic>
        <p:nvPicPr>
          <p:cNvPr id="5" name="Picture 4" descr="dang-n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5440680" cy="3060382"/>
          </a:xfrm>
          <a:prstGeom prst="rect">
            <a:avLst/>
          </a:prstGeom>
          <a:ln w="15875">
            <a:solidFill>
              <a:srgbClr val="B91C1C"/>
            </a:solidFill>
          </a:ln>
        </p:spPr>
      </p:pic>
      <p:pic>
        <p:nvPicPr>
          <p:cNvPr id="6" name="Picture 5" descr="logo-im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54496"/>
            <a:ext cx="1431235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63276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Trang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1800" b="1">
                <a:solidFill>
                  <a:srgbClr val="FFD9D9"/>
                </a:solidFill>
                <a:latin typeface="Segoe UI"/>
              </a:rPr>
              <a:t>BƯỚC 2   </a:t>
            </a:r>
            <a:r>
              <a:rPr sz="2600" b="1">
                <a:solidFill>
                  <a:srgbClr val="FFFFFF"/>
                </a:solidFill>
                <a:latin typeface="Segoe UI"/>
              </a:rPr>
              <a:t>Tạo hồ sơ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F2937"/>
                </a:solidFill>
                <a:latin typeface="Segoe UI"/>
              </a:rPr>
              <a:t>•  Hồ sơ đơn (một người):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      –  Bấm "+ Tạo hồ sơ mới" → nhập họ tên → chọn loại hồ sơ.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      –  Hệ thống tự gán mã 01 cho mọi giấy tờ.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F2937"/>
                </a:solidFill>
                <a:latin typeface="Segoe UI"/>
              </a:rPr>
              <a:t>•  Hồ sơ gia đình: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      –  Tích "Bộ hồ sơ gia đình": nhập chủ hồ sơ + vợ/chồng + các con.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      –  Mã: 01 chủ hồ sơ · 02 vợ/chồng · 03+ con · rồi cháu, anh/chị/em.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F2937"/>
                </a:solidFill>
                <a:latin typeface="Segoe UI"/>
              </a:rPr>
              <a:t>•  Không tạo trùng: cùng tên + năm + người phụ trách sẽ bị chặn.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      –  Ảnh trên: bấm nút Tạo hồ sơ mới (đã khoanh) · Ảnh dưới: form khai báo.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100" y="1508760"/>
            <a:ext cx="3942080" cy="2217420"/>
          </a:xfrm>
          <a:prstGeom prst="rect">
            <a:avLst/>
          </a:prstGeom>
          <a:ln w="12700">
            <a:solidFill>
              <a:srgbClr val="B91C1C"/>
            </a:solidFill>
          </a:ln>
        </p:spPr>
      </p:pic>
      <p:pic>
        <p:nvPicPr>
          <p:cNvPr id="6" name="Picture 5" descr="tao-ho-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100" y="3909060"/>
            <a:ext cx="3942080" cy="2217420"/>
          </a:xfrm>
          <a:prstGeom prst="rect">
            <a:avLst/>
          </a:prstGeom>
          <a:ln w="12700">
            <a:solidFill>
              <a:srgbClr val="B91C1C"/>
            </a:solidFill>
          </a:ln>
        </p:spPr>
      </p:pic>
      <p:pic>
        <p:nvPicPr>
          <p:cNvPr id="7" name="Picture 6" descr="logo-imm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254496"/>
            <a:ext cx="1431235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63276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Trang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1800" b="1">
                <a:solidFill>
                  <a:srgbClr val="FFD9D9"/>
                </a:solidFill>
                <a:latin typeface="Segoe UI"/>
              </a:rPr>
              <a:t>BƯỚC 3   </a:t>
            </a:r>
            <a:r>
              <a:rPr sz="2600" b="1">
                <a:solidFill>
                  <a:srgbClr val="FFFFFF"/>
                </a:solidFill>
                <a:latin typeface="Segoe UI"/>
              </a:rPr>
              <a:t>Đặt tên file giấy tờ (quan trọng)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Segoe UI"/>
              </a:rPr>
              <a:t>Công thức: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B91C1C"/>
                </a:solidFill>
                <a:latin typeface="Segoe UI"/>
              </a:rPr>
              <a:t>{mã người}_{số file}  {LOẠI GIẤY}  -  {HỌ TÊN}.pdf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64748B"/>
                </a:solidFill>
                <a:latin typeface="Segoe UI"/>
              </a:rPr>
              <a:t>Ví dụ:  01_1 BIRTH CERTIFICATE - DANG VAN HUNG.pdf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743200"/>
          <a:ext cx="6949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743200"/>
                <a:gridCol w="3017520"/>
              </a:tblGrid>
              <a:tr h="44413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Mã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Vai trò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Ghi chú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01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Chủ hồ sơ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Người nộp chính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Vợ / chồng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Khi có phối ngẫu đi cùng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03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Con 1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Con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05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Con 3 / cháu / anh-chị-em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Theo thứ tự khai báo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Con 4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Tăng dần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274320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Đặt tên file TRƯỚC khi upload — hệ thống dựa vào tên để gán đúng người &amp; loại giấy.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Tên trên hệ thống phải khớp tên trên giấy tờ (hộ chiếu, khai sinh).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Giấy khai sinh của CON phải có chữ CHILD: BIRTH CERTIFICATE CHILD.</a:t>
            </a:r>
          </a:p>
        </p:txBody>
      </p:sp>
      <p:pic>
        <p:nvPicPr>
          <p:cNvPr id="7" name="Picture 6" descr="logo-im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54496"/>
            <a:ext cx="1431235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63276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Trang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1800" b="1">
                <a:solidFill>
                  <a:srgbClr val="FFD9D9"/>
                </a:solidFill>
                <a:latin typeface="Segoe UI"/>
              </a:rPr>
              <a:t>BƯỚC 3   </a:t>
            </a:r>
            <a:r>
              <a:rPr sz="2600" b="1">
                <a:solidFill>
                  <a:srgbClr val="FFFFFF"/>
                </a:solidFill>
                <a:latin typeface="Segoe UI"/>
              </a:rPr>
              <a:t>Số file chuẩn (_1 đến _4)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206240"/>
                <a:gridCol w="5486400"/>
              </a:tblGrid>
              <a:tr h="7010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Số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Loại giấy tờ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Từ khóa trong tên file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_1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Giấy khai sinh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BIRTH CERTIFICATE / BIRTH CERTIFICATE CHILD (cho con)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_2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Hộ chiếu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PASSPORT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_3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Quyết định ly hôn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DIVORCE DECREE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_4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Lý lịch tư pháp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JUDICIAL CERTIFICATE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_5+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Giấy tờ bổ sung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Giấy kết hôn, chứng tử, đơn xin việc… (đánh số tiếp)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logo-im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54496"/>
            <a:ext cx="1431235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63276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Trang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1800" b="1">
                <a:solidFill>
                  <a:srgbClr val="FFD9D9"/>
                </a:solidFill>
                <a:latin typeface="Segoe UI"/>
              </a:rPr>
              <a:t>BƯỚC 4   </a:t>
            </a:r>
            <a:r>
              <a:rPr sz="2600" b="1">
                <a:solidFill>
                  <a:srgbClr val="FFFFFF"/>
                </a:solidFill>
                <a:latin typeface="Segoe UI"/>
              </a:rPr>
              <a:t>Upload tài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Mở hồ sơ → vào trang Upload.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Kéo–thả các file PDF (đã đặt tên chuẩn) hoặc bấm Chọn file.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Có thể upload nhiều file một lần cho cả gia đình.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Hệ thống tự động OCR (đọc dữ liệu bằng AI).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Chờ trạng thái "Đã xử lý" rồi mới sang Review.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      –  Chấp nhận PDF, ảnh, Word, Excel — tối đa 20MB/file.</a:t>
            </a:r>
          </a:p>
        </p:txBody>
      </p:sp>
      <p:pic>
        <p:nvPicPr>
          <p:cNvPr id="5" name="Picture 4" descr="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5440680" cy="3060382"/>
          </a:xfrm>
          <a:prstGeom prst="rect">
            <a:avLst/>
          </a:prstGeom>
          <a:ln w="15875">
            <a:solidFill>
              <a:srgbClr val="B91C1C"/>
            </a:solidFill>
          </a:ln>
        </p:spPr>
      </p:pic>
      <p:pic>
        <p:nvPicPr>
          <p:cNvPr id="6" name="Picture 5" descr="logo-im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54496"/>
            <a:ext cx="1431235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63276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Trang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1800" b="1">
                <a:solidFill>
                  <a:srgbClr val="FFD9D9"/>
                </a:solidFill>
                <a:latin typeface="Segoe UI"/>
              </a:rPr>
              <a:t>BƯỚC 5   </a:t>
            </a:r>
            <a:r>
              <a:rPr sz="2600" b="1">
                <a:solidFill>
                  <a:srgbClr val="FFFFFF"/>
                </a:solidFill>
                <a:latin typeface="Segoe UI"/>
              </a:rPr>
              <a:t>Khai báo thành viên gia đình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Vào Review → mục Thành viên: thêm Phối ngẫu, Con, Cháu nội/ngoại, Anh/chị/em.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Mỗi thành viên có DS-260 riêng, chọn từng người để xem/chỉnh.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      –  Cháu nội/ngoại: cha/mẹ lấy từ GKS của cháu (cây gia phả).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      –  Anh/chị/em (F4): form đầy đủ; thiếu GKS thì kế thừa cha/mẹ đương đơn chính.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Tên thành viên phải khớp tên trên giấy tờ.</a:t>
            </a:r>
          </a:p>
        </p:txBody>
      </p:sp>
      <p:pic>
        <p:nvPicPr>
          <p:cNvPr id="5" name="Picture 4" descr="thanh-vi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5440680" cy="3060382"/>
          </a:xfrm>
          <a:prstGeom prst="rect">
            <a:avLst/>
          </a:prstGeom>
          <a:ln w="15875">
            <a:solidFill>
              <a:srgbClr val="B91C1C"/>
            </a:solidFill>
          </a:ln>
        </p:spPr>
      </p:pic>
      <p:pic>
        <p:nvPicPr>
          <p:cNvPr id="6" name="Picture 5" descr="logo-im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54496"/>
            <a:ext cx="1431235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63276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Trang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1800" b="1">
                <a:solidFill>
                  <a:srgbClr val="FFD9D9"/>
                </a:solidFill>
                <a:latin typeface="Segoe UI"/>
              </a:rPr>
              <a:t>BƯỚC 6   </a:t>
            </a:r>
            <a:r>
              <a:rPr sz="2600" b="1">
                <a:solidFill>
                  <a:srgbClr val="FFFFFF"/>
                </a:solidFill>
                <a:latin typeface="Segoe UI"/>
              </a:rPr>
              <a:t>Review — kiểm tra &amp; xử lý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Trang Review hiển thị bảng DS-260 đã điền tự động cho từng người.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Mỗi trường ghi rõ nguồn dữ liệu (lấy từ giấy tờ nào).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Xung đột dữ liệu được tô màu và cho chọn giá trị đúng.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Có thể sửa tay bất kỳ trường nào còn thiếu/sai.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Kiểm tra kỹ: họ tên, ngày sinh, hộ chiếu, cha/mẹ, hôn nhân.</a:t>
            </a:r>
          </a:p>
        </p:txBody>
      </p:sp>
      <p:pic>
        <p:nvPicPr>
          <p:cNvPr id="5" name="Picture 4" descr="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5440680" cy="3060382"/>
          </a:xfrm>
          <a:prstGeom prst="rect">
            <a:avLst/>
          </a:prstGeom>
          <a:ln w="15875">
            <a:solidFill>
              <a:srgbClr val="B91C1C"/>
            </a:solidFill>
          </a:ln>
        </p:spPr>
      </p:pic>
      <p:pic>
        <p:nvPicPr>
          <p:cNvPr id="6" name="Picture 5" descr="logo-im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54496"/>
            <a:ext cx="1431235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63276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Trang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1800" b="1">
                <a:solidFill>
                  <a:srgbClr val="FFD9D9"/>
                </a:solidFill>
                <a:latin typeface="Segoe UI"/>
              </a:rPr>
              <a:t>BƯỚC 7   </a:t>
            </a:r>
            <a:r>
              <a:rPr sz="2600" b="1">
                <a:solidFill>
                  <a:srgbClr val="FFFFFF"/>
                </a:solidFill>
                <a:latin typeface="Segoe UI"/>
              </a:rPr>
              <a:t>Xuất DS-260 (Word)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Khi dữ liệu đã đúng, bấm Xuất DS-260.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Hệ thống tạo file Word theo mẫu chuẩn cho từng người.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Tải file về, kiểm tra lần cuối trước khi nộp.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      –  Hồ sơ gia đình: xuất riêng cho chủ hồ sơ, vợ/chồng, từng con.</a:t>
            </a:r>
          </a:p>
        </p:txBody>
      </p:sp>
      <p:pic>
        <p:nvPicPr>
          <p:cNvPr id="5" name="Picture 4" descr="thanh-vi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5440680" cy="3060382"/>
          </a:xfrm>
          <a:prstGeom prst="rect">
            <a:avLst/>
          </a:prstGeom>
          <a:ln w="15875">
            <a:solidFill>
              <a:srgbClr val="B91C1C"/>
            </a:solidFill>
          </a:ln>
        </p:spPr>
      </p:pic>
      <p:pic>
        <p:nvPicPr>
          <p:cNvPr id="6" name="Picture 5" descr="logo-im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54496"/>
            <a:ext cx="1431235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63276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Trang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Trợ lý AI (góc dưới bên phải)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Bấm nút "AI Assistant" màu đỏ ở góc dưới bên phải màn hình.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Tìm hồ sơ nhanh theo tên (vd: "Tìm hồ sơ NGUYEN VAN A").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Hỏi đáp về giấy tờ &amp; quy trình định cư (DS-260…).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Trả lời dựa trên dữ liệu sẵn có; nếu không có sẽ báo rõ.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Segoe UI"/>
              </a:rPr>
              <a:t>•  Bấm hồ sơ liên quan trong câu trả lời để mở nhanh.</a:t>
            </a:r>
          </a:p>
        </p:txBody>
      </p:sp>
      <p:pic>
        <p:nvPicPr>
          <p:cNvPr id="5" name="Picture 4" descr="tro-ly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5440680" cy="3060382"/>
          </a:xfrm>
          <a:prstGeom prst="rect">
            <a:avLst/>
          </a:prstGeom>
          <a:ln w="15875">
            <a:solidFill>
              <a:srgbClr val="B91C1C"/>
            </a:solidFill>
          </a:ln>
        </p:spPr>
      </p:pic>
      <p:pic>
        <p:nvPicPr>
          <p:cNvPr id="6" name="Picture 5" descr="logo-im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54496"/>
            <a:ext cx="1431235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63276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Trang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Lưu ý quan trọng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Đặt tên file đúng chuẩn TRƯỚC khi upload — yếu tố quan trọng nhất.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Segoe UI"/>
              </a:rPr>
              <a:t>•  Tên trên hệ thống = tên trên giấy tờ (tránh gán nhầm người).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Segoe UI"/>
              </a:rPr>
              <a:t>•  Chờ OCR hoàn tất rồi mới sang Review.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Segoe UI"/>
              </a:rPr>
              <a:t>•  Luôn kiểm tra &amp; xử lý xung đột trước khi xuất.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Segoe UI"/>
              </a:rPr>
              <a:t>•  Dữ liệu nhạy cảm — không chia sẻ tài khoản, đăng xuất khi xong.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•  Hỗ trợ kỹ thuật: liên hệ bộ phận IT (quản trị ứng dụng).</a:t>
            </a:r>
          </a:p>
        </p:txBody>
      </p:sp>
      <p:pic>
        <p:nvPicPr>
          <p:cNvPr id="5" name="Picture 4" descr="logo-im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54496"/>
            <a:ext cx="1431235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63276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Trang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